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0360" y="2568922"/>
            <a:ext cx="10231278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1" i="0" u="none">
                <a:solidFill>
                  <a:srgbClr val="F5F5F5"/>
                </a:solidFill>
                <a:latin typeface="Urbanist"/>
              </a:rPr>
              <a:t>AI Startup </a:t>
            </a:r>
            <a:r>
              <a:rPr sz="6000" b="1" i="0" u="none">
                <a:solidFill>
                  <a:srgbClr val="DEFF9A"/>
                </a:solidFill>
                <a:latin typeface="Urbanist"/>
              </a:rPr>
              <a:t>Success</a:t>
            </a:r>
            <a:r>
              <a:rPr sz="6000" b="1" i="0" u="none">
                <a:solidFill>
                  <a:srgbClr val="F5F5F5"/>
                </a:solidFill>
                <a:latin typeface="Urbanist"/>
              </a:rPr>
              <a:t>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86100" y="3645247"/>
            <a:ext cx="60198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CA3AF"/>
                </a:solidFill>
                <a:latin typeface="Urbanist"/>
              </a:rPr>
              <a:t>A Data-Driven Approach to Venture Capital Investment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5012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The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3098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3098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The Challenge: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High failure rates for startups in the first 5 years cause massive Venture Capital losses.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1099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099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Traditional Methods: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Investment decisions rely heavily on intuition and limited qualitative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9100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100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Our Solution: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An automated, AI-powered web application that predicts startup success based on historical metrics.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7101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7101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The Goal: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Mitigate risks and enable data-driven, strategic investments.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24062"/>
            <a:ext cx="523875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37494"/>
            <a:ext cx="3486150" cy="31450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337494"/>
            <a:ext cx="3486150" cy="31450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337494"/>
            <a:ext cx="3486150" cy="3145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Project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509069"/>
            <a:ext cx="218027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5F5F5"/>
                </a:solidFill>
                <a:latin typeface="Urbanist"/>
              </a:rPr>
              <a:t>Data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004369"/>
            <a:ext cx="27241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Urbanist"/>
              </a:rPr>
              <a:t>Extensive Exploratory Data Analysis, cleaning, handling missing values, and engineering lifecycle features like company 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3925" y="3509069"/>
            <a:ext cx="1770221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5F5F5"/>
                </a:solidFill>
                <a:latin typeface="Urbanist"/>
              </a:rPr>
              <a:t>ML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3925" y="4004369"/>
            <a:ext cx="27241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Urbanist"/>
              </a:rPr>
              <a:t>Evaluated multiple algorithms with rigorous hyperparameter tuning, focusing on F1-Score, Precision, and Recall.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5825" y="3509069"/>
            <a:ext cx="166020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F5F5F5"/>
                </a:solidFill>
                <a:latin typeface="Urbanist"/>
              </a:rPr>
              <a:t>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5825" y="4004369"/>
            <a:ext cx="27241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Urbanist"/>
              </a:rPr>
              <a:t>Developed a seamless Streamlit application offering single predictions, bulk processing, and interactive dashboards.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" y="2794694"/>
            <a:ext cx="371475" cy="428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2794694"/>
            <a:ext cx="428625" cy="4286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5825" y="2794694"/>
            <a:ext cx="5334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3050"/>
            <a:ext cx="11029950" cy="473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Target Variable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662612"/>
            <a:ext cx="11029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Urbanist"/>
              </a:rPr>
              <a:t>*The dataset is highly imbalanced, requiring careful evaluation metrics beyond standard accuracy.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Feature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57375" y="2070199"/>
            <a:ext cx="9001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Company Age: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Calculated from the founding date to the present or closure. Critical indicator of market maturity.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57375" y="3073896"/>
            <a:ext cx="9001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Funding Duration: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The time span between the first and last funding rounds, revealing sustained investor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7375" y="4077592"/>
            <a:ext cx="900112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Time to First Funding: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Measures how quickly a startup secured its initial capital after founding.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7375" y="4746128"/>
            <a:ext cx="900112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DEFF9A"/>
                </a:solidFill>
                <a:latin typeface="Urbanist"/>
              </a:rPr>
              <a:t>Outlier Handling:</a:t>
            </a:r>
            <a:r>
              <a:rPr sz="1650" b="0" i="0" u="none">
                <a:solidFill>
                  <a:srgbClr val="D1D5DB"/>
                </a:solidFill>
                <a:latin typeface="Urbanist"/>
              </a:rPr>
              <a:t> Winsorization applied at the 1st and 95th percentiles to cap extreme values without data loss.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113061"/>
            <a:ext cx="285750" cy="295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16758"/>
            <a:ext cx="285750" cy="295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120455"/>
            <a:ext cx="247650" cy="295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788991"/>
            <a:ext cx="285750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Model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2041177"/>
            <a:ext cx="11029950" cy="3737520"/>
          </a:xfrm>
          <a:prstGeom prst="roundRect">
            <a:avLst>
              <a:gd name="adj" fmla="val 0"/>
            </a:avLst>
          </a:prstGeom>
          <a:solidFill>
            <a:srgbClr val="1A1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1025" y="2041177"/>
          <a:ext cx="11020423" cy="373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6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7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8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Algorithm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Gradient Boosting (Best)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92.5%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91.8%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92.5%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EFF9A"/>
                          </a:solidFill>
                          <a:latin typeface="Urbanist"/>
                        </a:rPr>
                        <a:t>91.5%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90.1%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91.2%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90.2%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AdaBoost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89.4%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88.5%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89.4%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88.6%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7504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85.1%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83.2%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85.1%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Urbanist"/>
                        </a:rPr>
                        <a:t>83.5%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5787" y="2830710"/>
            <a:ext cx="3043237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29025" y="2830710"/>
            <a:ext cx="219521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24239" y="2830710"/>
            <a:ext cx="210651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930753" y="2830710"/>
            <a:ext cx="1707356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38109" y="2830710"/>
            <a:ext cx="19681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3564135"/>
            <a:ext cx="3043237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29025" y="3564135"/>
            <a:ext cx="219521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24239" y="3564135"/>
            <a:ext cx="210651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30753" y="3564135"/>
            <a:ext cx="1707356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638109" y="3564135"/>
            <a:ext cx="19681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5787" y="4297560"/>
            <a:ext cx="3043237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29025" y="4297560"/>
            <a:ext cx="219521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24239" y="4297560"/>
            <a:ext cx="210651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30753" y="4297560"/>
            <a:ext cx="1707356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38109" y="4297560"/>
            <a:ext cx="19681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787" y="5030985"/>
            <a:ext cx="3043237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29025" y="5030985"/>
            <a:ext cx="2195214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24239" y="5030985"/>
            <a:ext cx="210651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30753" y="5030985"/>
            <a:ext cx="1707356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638109" y="5030985"/>
            <a:ext cx="1968103" cy="9525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43050"/>
            <a:ext cx="11029950" cy="473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 dirty="0">
                <a:solidFill>
                  <a:srgbClr val="F5F5F5"/>
                </a:solidFill>
                <a:latin typeface="Urbanist"/>
              </a:rPr>
              <a:t>Feature </a:t>
            </a:r>
            <a:r>
              <a:rPr sz="3750" b="1" i="0" u="none" dirty="0">
                <a:solidFill>
                  <a:srgbClr val="DEFF9A"/>
                </a:solidFill>
                <a:latin typeface="Urbanist"/>
              </a:rPr>
              <a:t>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5114925"/>
            <a:ext cx="11029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9CA3AF"/>
                </a:solidFill>
                <a:latin typeface="Urbanist"/>
              </a:rPr>
              <a:t>*SHAP analysis revealed that sustained funding and rounds dictate model decisions more than a single massive seed round.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05012"/>
            <a:ext cx="52768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 dirty="0">
                <a:solidFill>
                  <a:srgbClr val="F5F5F5"/>
                </a:solidFill>
                <a:latin typeface="Urbanist"/>
              </a:rPr>
              <a:t>Interactive </a:t>
            </a:r>
            <a:r>
              <a:rPr sz="3750" b="1" i="0" u="none" dirty="0">
                <a:solidFill>
                  <a:srgbClr val="DEFF9A"/>
                </a:solidFill>
                <a:latin typeface="Urbanist"/>
              </a:rP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3098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23098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D1D5DB"/>
                </a:solidFill>
                <a:latin typeface="Urbanist"/>
              </a:rPr>
              <a:t>Single Prediction:</a:t>
            </a:r>
            <a:r>
              <a:rPr sz="1500" b="0" i="0" u="none" dirty="0">
                <a:solidFill>
                  <a:srgbClr val="D1D5DB"/>
                </a:solidFill>
                <a:latin typeface="Urbanist"/>
              </a:rPr>
              <a:t> Instant success forecasting by manually inputting startup parameters.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1099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1099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>
                <a:solidFill>
                  <a:srgbClr val="D1D5DB"/>
                </a:solidFill>
                <a:latin typeface="Urbanist"/>
              </a:rPr>
              <a:t>Bulk Processing:</a:t>
            </a:r>
            <a:r>
              <a:rPr sz="1500" b="0" i="0" u="none" dirty="0">
                <a:solidFill>
                  <a:srgbClr val="D1D5DB"/>
                </a:solidFill>
                <a:latin typeface="Urbanist"/>
              </a:rPr>
              <a:t> VC analysts can upload CSV files to evaluate hundreds of startups simultaneously.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9100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9100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What-If Simulator: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Real-time adjustments to funding rounds or age to visualize the impact on success probability.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710112"/>
            <a:ext cx="38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1D5DB"/>
                </a:solidFill>
                <a:latin typeface="Urbanist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710112"/>
            <a:ext cx="5048250" cy="609600"/>
          </a:xfrm>
          <a:prstGeom prst="rect">
            <a:avLst/>
          </a:prstGeom>
          <a:noFill/>
        </p:spPr>
        <p:txBody>
          <a:bodyPr wrap="square" lIns="381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D1D5DB"/>
                </a:solidFill>
                <a:latin typeface="Urbanist"/>
              </a:rPr>
              <a:t>Data Insights:</a:t>
            </a:r>
            <a:r>
              <a:rPr sz="1500" b="0" i="0" u="none">
                <a:solidFill>
                  <a:srgbClr val="D1D5DB"/>
                </a:solidFill>
                <a:latin typeface="Urbanist"/>
              </a:rPr>
              <a:t> Built-in dashboards to explore historical data and market trends.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2024062"/>
            <a:ext cx="523875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89869"/>
            <a:ext cx="3486150" cy="32402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289869"/>
            <a:ext cx="3486150" cy="32402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289869"/>
            <a:ext cx="3486150" cy="32402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F5F5F5"/>
                </a:solidFill>
                <a:latin typeface="Urbanist"/>
              </a:rPr>
              <a:t>Meet the </a:t>
            </a:r>
            <a:r>
              <a:rPr sz="3750" b="1" i="0" u="none">
                <a:solidFill>
                  <a:srgbClr val="DEFF9A"/>
                </a:solidFill>
                <a:latin typeface="Urbanist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4964" y="3461444"/>
            <a:ext cx="150494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F5F5F5"/>
                </a:solidFill>
                <a:latin typeface="Urbanist"/>
              </a:rPr>
              <a:t>Zia</a:t>
            </a:r>
            <a:r>
              <a:rPr lang="en-US" sz="2250" b="1" i="0" u="none" dirty="0">
                <a:solidFill>
                  <a:srgbClr val="F5F5F5"/>
                </a:solidFill>
                <a:latin typeface="Urbanist"/>
              </a:rPr>
              <a:t>d Bahaa</a:t>
            </a:r>
            <a:r>
              <a:rPr lang="ar-EG" sz="2250" b="1" i="0" u="none" dirty="0">
                <a:solidFill>
                  <a:srgbClr val="F5F5F5"/>
                </a:solidFill>
                <a:latin typeface="Urbanist"/>
              </a:rPr>
              <a:t> </a:t>
            </a:r>
            <a:endParaRPr sz="2250" b="1" i="0" u="none" dirty="0">
              <a:solidFill>
                <a:srgbClr val="F5F5F5"/>
              </a:solidFill>
              <a:latin typeface="Urban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71625" y="3861494"/>
            <a:ext cx="15049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 dirty="0">
                <a:solidFill>
                  <a:srgbClr val="DEFF9A"/>
                </a:solidFill>
                <a:latin typeface="Urbanist"/>
              </a:rPr>
              <a:t>Data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326284"/>
            <a:ext cx="27241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Urbanist"/>
              </a:rPr>
              <a:t>Led Exploratory Data Analysis, cleaning, handling outliers, and engineering key timeline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1568" y="3459769"/>
            <a:ext cx="2328862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F5F5F5"/>
                </a:solidFill>
                <a:latin typeface="Urbanist"/>
              </a:rPr>
              <a:t>Mohamed</a:t>
            </a:r>
            <a:r>
              <a:rPr lang="en-US" sz="2250" b="1" i="0" u="none" dirty="0">
                <a:solidFill>
                  <a:srgbClr val="F5F5F5"/>
                </a:solidFill>
                <a:latin typeface="Urbanist"/>
              </a:rPr>
              <a:t> Ahmed</a:t>
            </a:r>
            <a:endParaRPr sz="2250" b="1" i="0" u="none" dirty="0">
              <a:solidFill>
                <a:srgbClr val="F5F5F5"/>
              </a:solidFill>
              <a:latin typeface="Urbanis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05437" y="3861494"/>
            <a:ext cx="13811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DEFF9A"/>
                </a:solidFill>
                <a:latin typeface="Urbanist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3925" y="4326284"/>
            <a:ext cx="27241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Urbanist"/>
              </a:rPr>
              <a:t>Trained and optimized multiple models, achieving a 91.5% F1-Score using Gradient Boosting.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1830" y="3440719"/>
            <a:ext cx="1872139" cy="346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1" i="0" u="none" dirty="0">
                <a:solidFill>
                  <a:srgbClr val="F5F5F5"/>
                </a:solidFill>
                <a:latin typeface="Urbanist"/>
              </a:rPr>
              <a:t>Ahmed</a:t>
            </a:r>
            <a:r>
              <a:rPr lang="en-US" sz="2250" b="1" i="0" u="none" dirty="0">
                <a:solidFill>
                  <a:srgbClr val="F5F5F5"/>
                </a:solidFill>
                <a:latin typeface="Urbanist"/>
              </a:rPr>
              <a:t> </a:t>
            </a:r>
            <a:r>
              <a:rPr lang="en-US" sz="2250" b="1" i="0" u="none" dirty="0" err="1">
                <a:solidFill>
                  <a:srgbClr val="F5F5F5"/>
                </a:solidFill>
                <a:latin typeface="Urbanist"/>
              </a:rPr>
              <a:t>wagdy</a:t>
            </a:r>
            <a:endParaRPr sz="2250" b="1" i="0" u="none" dirty="0">
              <a:solidFill>
                <a:srgbClr val="F5F5F5"/>
              </a:solidFill>
              <a:latin typeface="Urbanis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01175" y="3861494"/>
            <a:ext cx="93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DEFF9A"/>
                </a:solidFill>
                <a:latin typeface="Urbanist"/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5825" y="4326284"/>
            <a:ext cx="27241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D1D5DB"/>
                </a:solidFill>
                <a:latin typeface="Urbanist"/>
              </a:rPr>
              <a:t>Developed the complete Streamlit web application with bulk prediction and what-if simulation features.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1212" y="2747069"/>
            <a:ext cx="485775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0" y="2747069"/>
            <a:ext cx="533400" cy="4286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2747069"/>
            <a:ext cx="5334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80498" y="2156519"/>
            <a:ext cx="8031003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375" b="1" i="0" u="none">
                <a:solidFill>
                  <a:srgbClr val="F5F5F5"/>
                </a:solidFill>
                <a:latin typeface="Urbanist"/>
              </a:rPr>
              <a:t>Questions </a:t>
            </a:r>
            <a:r>
              <a:rPr sz="6375" b="1" i="0" u="none">
                <a:solidFill>
                  <a:srgbClr val="DEFF9A"/>
                </a:solidFill>
                <a:latin typeface="Urbanist"/>
              </a:rPr>
              <a:t>&amp;</a:t>
            </a:r>
            <a:r>
              <a:rPr sz="6375" b="1" i="0" u="none">
                <a:solidFill>
                  <a:srgbClr val="F5F5F5"/>
                </a:solidFill>
                <a:latin typeface="Urbanist"/>
              </a:rPr>
              <a:t>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1712" y="3432869"/>
            <a:ext cx="76485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DEFF9A"/>
                </a:solidFill>
                <a:latin typeface="Urbanist"/>
              </a:rPr>
              <a:t>Ready to revolutionize your investment strategy?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1712" y="4396680"/>
            <a:ext cx="7648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9CA3AF"/>
                </a:solidFill>
                <a:latin typeface="Urbanist"/>
              </a:rPr>
              <a:t>Machine Learning for Data Science Team | Cretiva NTI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452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Ziad Bahaa</dc:creator>
  <cp:keywords/>
  <dc:description>generated using python-pptx</dc:description>
  <cp:lastModifiedBy>زياد بهاء</cp:lastModifiedBy>
  <cp:revision>2</cp:revision>
  <dcterms:created xsi:type="dcterms:W3CDTF">2013-01-27T09:14:16Z</dcterms:created>
  <dcterms:modified xsi:type="dcterms:W3CDTF">2026-08-07T18:41:58Z</dcterms:modified>
  <cp:category/>
</cp:coreProperties>
</file>