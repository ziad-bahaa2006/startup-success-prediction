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0360" y="2692747"/>
            <a:ext cx="10231278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F5F5F5"/>
                </a:solidFill>
                <a:latin typeface="Urbanist"/>
              </a:rPr>
              <a:t>AI Startup </a:t>
            </a:r>
            <a:r>
              <a:rPr sz="6000" b="1" i="0" u="none">
                <a:solidFill>
                  <a:srgbClr val="DEFF9A"/>
                </a:solidFill>
                <a:latin typeface="Urbanist"/>
              </a:rPr>
              <a:t>Success</a:t>
            </a:r>
            <a:r>
              <a:rPr sz="6000" b="1" i="0" u="none">
                <a:solidFill>
                  <a:srgbClr val="F5F5F5"/>
                </a:solidFill>
                <a:latin typeface="Urbanist"/>
              </a:rPr>
              <a:t>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71737" y="3769072"/>
            <a:ext cx="72485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A Comprehensive Data-Driven Investment Tool for Venture Capital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The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5574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5746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High Failure Rates: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A massive percentage of startups fail within their first five years, leading to substantial VC losses.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3575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5756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Subjective Decisions: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Traditional investments rely heavily on intuition, "gut feelings", and limited qualitative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1576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157662"/>
            <a:ext cx="5048250" cy="9144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The Need: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The market lacks an automated, objective, and data-driven approach to evaluate long-term viability based on historical metrics.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9AB4928-C64E-A091-D33D-91E610462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2024062"/>
            <a:ext cx="52387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389882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0420" y="2723257"/>
            <a:ext cx="9271158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5F5F5"/>
                </a:solidFill>
                <a:latin typeface="Urbanist"/>
              </a:rPr>
              <a:t>Phase 1 &amp; 2: </a:t>
            </a:r>
            <a:r>
              <a:rPr sz="5250" b="1" i="0" u="none">
                <a:solidFill>
                  <a:srgbClr val="DEFF9A"/>
                </a:solidFill>
                <a:latin typeface="Urbanist"/>
              </a:rPr>
              <a:t>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961507"/>
            <a:ext cx="7620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Led by Ziad: Extracting insights, handling missing data, treating outliers, and building robust features from raw historical startup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3050"/>
            <a:ext cx="1102995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Target Variable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605462"/>
            <a:ext cx="11029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Urbanist"/>
              </a:rPr>
              <a:t>*The vast majority of startups are "Operating", making the target variable highly imbalanced. Accuracy alone is an insufficient metric.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Funding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2986087"/>
            <a:ext cx="441186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sz="11250" b="1" i="0" u="none">
                <a:solidFill>
                  <a:srgbClr val="DEFF9A"/>
                </a:solidFill>
                <a:latin typeface="Urbanist"/>
              </a:rPr>
              <a:t>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510087"/>
            <a:ext cx="441186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5F5F5"/>
                </a:solidFill>
                <a:latin typeface="Urbanist"/>
              </a:rPr>
              <a:t>Reach 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9135" y="2967037"/>
            <a:ext cx="644893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5F5F5"/>
                </a:solidFill>
                <a:latin typeface="Urbanist"/>
              </a:rPr>
              <a:t>Significant Funding Disparity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9135" y="3186112"/>
            <a:ext cx="614183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Exploratory Data Analysis (EDA) revealed extreme outliers in funding amounts, highly characteristic of the startup ecosystem.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69135" y="3938587"/>
            <a:ext cx="61418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Although only ~2% of companies reached an IPO, their median funding dwarfed that of 'Closed' or 'Operating' companies, proving funding is a vital predictive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Data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Cleaning</a:t>
            </a:r>
            <a:r>
              <a:rPr sz="3750" b="1" i="0" u="none">
                <a:solidFill>
                  <a:srgbClr val="F5F5F5"/>
                </a:solidFill>
                <a:latin typeface="Urbanist"/>
              </a:rPr>
              <a:t>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375" y="1902618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Missing Values (Numerical):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Filled utilizing the median value to avoid skewness caused by extreme financial outliers.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375" y="2906315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Missing Values (Categorical):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Handled by imputing the statistical mode or creating 'Unknown' categories for robust mapping.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7375" y="3910012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Outlier Capping (Winsorization):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Clipped data at the 1st and 95th percentiles. Extreme funding events are legitimate, so capping prevents model distortion without dropping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7375" y="4913709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Invalid Entries: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Removed mathematically impossible inputs (e.g., negative company ages or future dates like year 2115).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945481"/>
            <a:ext cx="28575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49178"/>
            <a:ext cx="28575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952875"/>
            <a:ext cx="285750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956571"/>
            <a:ext cx="2476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Feature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1574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157412"/>
            <a:ext cx="5048250" cy="9144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Company Age: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Derived from founding date up to the reference maximum year (2015). A crucial maturity indicator.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2623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2623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Funding Duration: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Time span between the first and last funding rounds. Indicates sustained investor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0624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624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Time to First Funding: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How fast a startup proved market fit to secure initial capital.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8625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8625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Primary Category: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Extracted the dominant sector from complex multi-category lists to simplify encoding.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24062"/>
            <a:ext cx="52387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191791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15477" y="2525166"/>
            <a:ext cx="8361045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5F5F5"/>
                </a:solidFill>
                <a:latin typeface="Urbanist"/>
              </a:rPr>
              <a:t>Phase 3: </a:t>
            </a:r>
            <a:r>
              <a:rPr sz="5250" b="1" i="0" u="none">
                <a:solidFill>
                  <a:srgbClr val="DEFF9A"/>
                </a:solidFill>
                <a:latin typeface="Urbanist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63416"/>
            <a:ext cx="762000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Led by Mohamed: Transforming features, testing diverse algorithms, hyperparameter tuning, and leveraging Explainable AI (SHAP) for model interpretability.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8900"/>
            <a:ext cx="5276850" cy="2562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28900"/>
            <a:ext cx="5276850" cy="2562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Data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48000"/>
            <a:ext cx="47405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Categorical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590925"/>
            <a:ext cx="45148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The target variable ('status') was label encoded into numeric values (0 to 3). High-cardinality features like Country and Category were grouped (Top 10 / Top 20) and One-Hot Encoded to limit dimensionality.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048000"/>
            <a:ext cx="47405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Feature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590925"/>
            <a:ext cx="45148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Applied StandardScaler exclusively fitted on the training set to ensure mean=0 and variance=1. This prevents data leakage and ensures distance-based metrics perform optimally.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Model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5477767"/>
            <a:ext cx="1102995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*F1-Score is prioritized due to the imbalanced nature of the dataset. Grid Search CV was used for optimal tuning.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1549747"/>
            <a:ext cx="11029950" cy="3737520"/>
          </a:xfrm>
          <a:prstGeom prst="roundRect">
            <a:avLst>
              <a:gd name="adj" fmla="val 0"/>
            </a:avLst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549747"/>
          <a:ext cx="11020423" cy="373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9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3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Gradient Boosting (Tuned)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91.5%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90.1%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AdaBoost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88.6%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85.1%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83.2%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85.1%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5787" y="2339280"/>
            <a:ext cx="318521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71007" y="2339280"/>
            <a:ext cx="215607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27080" y="2339280"/>
            <a:ext cx="206900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96088" y="2339280"/>
            <a:ext cx="167699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73083" y="2339280"/>
            <a:ext cx="193312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787" y="3072705"/>
            <a:ext cx="318521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71007" y="3072705"/>
            <a:ext cx="215607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27080" y="3072705"/>
            <a:ext cx="206900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96088" y="3072705"/>
            <a:ext cx="167699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73083" y="3072705"/>
            <a:ext cx="193312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3806130"/>
            <a:ext cx="318521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71007" y="3806130"/>
            <a:ext cx="215607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27080" y="3806130"/>
            <a:ext cx="206900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96088" y="3806130"/>
            <a:ext cx="167699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73083" y="3806130"/>
            <a:ext cx="193312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787" y="4539555"/>
            <a:ext cx="3185219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71007" y="4539555"/>
            <a:ext cx="215607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27080" y="4539555"/>
            <a:ext cx="206900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96088" y="4539555"/>
            <a:ext cx="1676995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73083" y="4539555"/>
            <a:ext cx="1933128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3050"/>
            <a:ext cx="1102995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Feature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057775"/>
            <a:ext cx="11029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Urbanist"/>
              </a:rPr>
              <a:t>*Sustained funding across multiple rounds carries extreme weight for prediction, significantly outweighing early-stage parameters like country or primary category.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19750" y="2191791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10589" y="2525166"/>
            <a:ext cx="6570821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>
                <a:solidFill>
                  <a:srgbClr val="F5F5F5"/>
                </a:solidFill>
                <a:latin typeface="Urbanist"/>
              </a:rPr>
              <a:t>Phase 4: </a:t>
            </a:r>
            <a:r>
              <a:rPr sz="5250" b="1" i="0" u="none">
                <a:solidFill>
                  <a:srgbClr val="DEFF9A"/>
                </a:solidFill>
                <a:latin typeface="Urbanist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763416"/>
            <a:ext cx="762000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Led by Ahmed: Translating the robust machine learning pipeline into an accessible, real-time web application using Streamlit for VC stakeholders.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Interactive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5574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55746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User-Centric Design: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Developed a smooth Streamlit interface catering to non-technical analysts.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3575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57562"/>
            <a:ext cx="5048250" cy="9144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Pre-loaded Configs: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Scalers, Label Encoders, and median boundaries saved as `.pkl` and `.json` artifacts for consistency in production.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46246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46246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Report Generation: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Instantly export analysis results into downloadable CSV reports directly from the UI.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24062"/>
            <a:ext cx="52387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8900"/>
            <a:ext cx="5276850" cy="2562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28900"/>
            <a:ext cx="5276850" cy="2562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Key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048000"/>
            <a:ext cx="47405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Bulk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590925"/>
            <a:ext cx="45148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VC analysts can upload entire CSV files to evaluate hundreds of startups concurrently. The system processes the pipeline and outputs bulk predictions and confidence scores.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3048000"/>
            <a:ext cx="474059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What-If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590925"/>
            <a:ext cx="45148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Real-time sliders allow users to manipulate inputs like "Funding Rounds" or "Company Age" to visualize instantly how scenario adjustments impact success probability.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6450"/>
            <a:ext cx="3486150" cy="3667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076450"/>
            <a:ext cx="3486150" cy="3667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076450"/>
            <a:ext cx="3486150" cy="3667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Meet the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6979" y="3248025"/>
            <a:ext cx="1534240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Ziad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 Bahaa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5900" y="3648075"/>
            <a:ext cx="1676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DEFF9A"/>
                </a:solidFill>
                <a:latin typeface="Urbanist"/>
              </a:rPr>
              <a:t>Data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143375"/>
            <a:ext cx="27241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Led Exploratory Data Analysis, cleaning, handling outliers, and engineering key timeline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4418" y="3248025"/>
            <a:ext cx="2443163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Mohamed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 Ahmed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24475" y="3648075"/>
            <a:ext cx="1543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DEFF9A"/>
                </a:solidFill>
                <a:latin typeface="Urbanist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4143375"/>
            <a:ext cx="27241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Trained and optimized multiple models, achieving a 91.5% F1-Score using Gradient Boosting.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829" y="3195377"/>
            <a:ext cx="187213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Ahmed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 Wagdy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348787" y="3648075"/>
            <a:ext cx="10382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DEFF9A"/>
                </a:solidFill>
                <a:latin typeface="Urbanist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5825" y="4143375"/>
            <a:ext cx="27241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D1D5DB"/>
                </a:solidFill>
                <a:latin typeface="Urbanist"/>
              </a:rPr>
              <a:t>Developed the complete Streamlit web application with bulk prediction and what-if simulation features.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1212" y="2533650"/>
            <a:ext cx="48577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2533650"/>
            <a:ext cx="533400" cy="4286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2533650"/>
            <a:ext cx="5334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166044"/>
            <a:ext cx="11581447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5" b="1" i="0" u="none">
                <a:solidFill>
                  <a:srgbClr val="F5F5F5"/>
                </a:solidFill>
                <a:latin typeface="Urbanist"/>
              </a:rPr>
              <a:t>Questions </a:t>
            </a:r>
            <a:r>
              <a:rPr sz="6375" b="1" i="0" u="none">
                <a:solidFill>
                  <a:srgbClr val="DEFF9A"/>
                </a:solidFill>
                <a:latin typeface="Urbanist"/>
              </a:rPr>
              <a:t>&amp;</a:t>
            </a:r>
            <a:r>
              <a:rPr sz="6375" b="1" i="0" u="none">
                <a:solidFill>
                  <a:srgbClr val="F5F5F5"/>
                </a:solidFill>
                <a:latin typeface="Urbanist"/>
              </a:rPr>
              <a:t>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423344"/>
            <a:ext cx="110299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DEFF9A"/>
                </a:solidFill>
                <a:latin typeface="Urbanist"/>
              </a:rPr>
              <a:t>Ready to revolutionize your investment strategy?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387155"/>
            <a:ext cx="11029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9CA3AF"/>
                </a:solidFill>
                <a:latin typeface="Urbanist"/>
              </a:rPr>
              <a:t>Machine Learning for Data Science Team | Cretiva 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796</Words>
  <Application>Microsoft Office PowerPoint</Application>
  <PresentationFormat>Widescreen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Ziad Bahaa</dc:creator>
  <cp:keywords/>
  <dc:description>generated using python-pptx</dc:description>
  <cp:lastModifiedBy>زياد بهاء</cp:lastModifiedBy>
  <cp:revision>2</cp:revision>
  <dcterms:created xsi:type="dcterms:W3CDTF">2013-01-27T09:14:16Z</dcterms:created>
  <dcterms:modified xsi:type="dcterms:W3CDTF">2026-08-08T06:28:19Z</dcterms:modified>
  <cp:category/>
</cp:coreProperties>
</file>